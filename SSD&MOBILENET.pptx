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8" r:id="rId2"/>
    <p:sldId id="257" r:id="rId3"/>
    <p:sldId id="259" r:id="rId4"/>
    <p:sldId id="260" r:id="rId5"/>
    <p:sldId id="261"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EAAE2E08-3083-4F17-BA01-41A030BE44F0}" type="datetimeFigureOut">
              <a:rPr lang="en-US" smtClean="0"/>
              <a:t>11-Oct-22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845D7D-ECCB-4434-BC7C-840E5BDAD3DD}" type="slidenum">
              <a:rPr lang="en-US" smtClean="0"/>
              <a:t>‹#›</a:t>
            </a:fld>
            <a:endParaRPr lang="en-US"/>
          </a:p>
        </p:txBody>
      </p:sp>
    </p:spTree>
    <p:extLst>
      <p:ext uri="{BB962C8B-B14F-4D97-AF65-F5344CB8AC3E}">
        <p14:creationId xmlns:p14="http://schemas.microsoft.com/office/powerpoint/2010/main" val="2153947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AAE2E08-3083-4F17-BA01-41A030BE44F0}" type="datetimeFigureOut">
              <a:rPr lang="en-US" smtClean="0"/>
              <a:t>11-Oct-22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845D7D-ECCB-4434-BC7C-840E5BDAD3DD}" type="slidenum">
              <a:rPr lang="en-US" smtClean="0"/>
              <a:t>‹#›</a:t>
            </a:fld>
            <a:endParaRPr lang="en-US"/>
          </a:p>
        </p:txBody>
      </p:sp>
    </p:spTree>
    <p:extLst>
      <p:ext uri="{BB962C8B-B14F-4D97-AF65-F5344CB8AC3E}">
        <p14:creationId xmlns:p14="http://schemas.microsoft.com/office/powerpoint/2010/main" val="33349645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AAE2E08-3083-4F17-BA01-41A030BE44F0}" type="datetimeFigureOut">
              <a:rPr lang="en-US" smtClean="0"/>
              <a:t>11-Oct-22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845D7D-ECCB-4434-BC7C-840E5BDAD3DD}" type="slidenum">
              <a:rPr lang="en-US" smtClean="0"/>
              <a:t>‹#›</a:t>
            </a:fld>
            <a:endParaRPr lang="en-US"/>
          </a:p>
        </p:txBody>
      </p:sp>
    </p:spTree>
    <p:extLst>
      <p:ext uri="{BB962C8B-B14F-4D97-AF65-F5344CB8AC3E}">
        <p14:creationId xmlns:p14="http://schemas.microsoft.com/office/powerpoint/2010/main" val="38198817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AAE2E08-3083-4F17-BA01-41A030BE44F0}" type="datetimeFigureOut">
              <a:rPr lang="en-US" smtClean="0"/>
              <a:t>11-Oct-22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845D7D-ECCB-4434-BC7C-840E5BDAD3DD}" type="slidenum">
              <a:rPr lang="en-US" smtClean="0"/>
              <a:t>‹#›</a:t>
            </a:fld>
            <a:endParaRPr lang="en-US"/>
          </a:p>
        </p:txBody>
      </p:sp>
    </p:spTree>
    <p:extLst>
      <p:ext uri="{BB962C8B-B14F-4D97-AF65-F5344CB8AC3E}">
        <p14:creationId xmlns:p14="http://schemas.microsoft.com/office/powerpoint/2010/main" val="3007192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AAE2E08-3083-4F17-BA01-41A030BE44F0}" type="datetimeFigureOut">
              <a:rPr lang="en-US" smtClean="0"/>
              <a:t>11-Oct-22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845D7D-ECCB-4434-BC7C-840E5BDAD3DD}" type="slidenum">
              <a:rPr lang="en-US" smtClean="0"/>
              <a:t>‹#›</a:t>
            </a:fld>
            <a:endParaRPr lang="en-US"/>
          </a:p>
        </p:txBody>
      </p:sp>
    </p:spTree>
    <p:extLst>
      <p:ext uri="{BB962C8B-B14F-4D97-AF65-F5344CB8AC3E}">
        <p14:creationId xmlns:p14="http://schemas.microsoft.com/office/powerpoint/2010/main" val="1746172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EAAE2E08-3083-4F17-BA01-41A030BE44F0}" type="datetimeFigureOut">
              <a:rPr lang="en-US" smtClean="0"/>
              <a:t>11-Oct-22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845D7D-ECCB-4434-BC7C-840E5BDAD3DD}" type="slidenum">
              <a:rPr lang="en-US" smtClean="0"/>
              <a:t>‹#›</a:t>
            </a:fld>
            <a:endParaRPr lang="en-US"/>
          </a:p>
        </p:txBody>
      </p:sp>
    </p:spTree>
    <p:extLst>
      <p:ext uri="{BB962C8B-B14F-4D97-AF65-F5344CB8AC3E}">
        <p14:creationId xmlns:p14="http://schemas.microsoft.com/office/powerpoint/2010/main" val="787233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AE2E08-3083-4F17-BA01-41A030BE44F0}" type="datetimeFigureOut">
              <a:rPr lang="en-US" smtClean="0"/>
              <a:t>11-Oct-22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845D7D-ECCB-4434-BC7C-840E5BDAD3DD}" type="slidenum">
              <a:rPr lang="en-US" smtClean="0"/>
              <a:t>‹#›</a:t>
            </a:fld>
            <a:endParaRPr lang="en-US"/>
          </a:p>
        </p:txBody>
      </p:sp>
    </p:spTree>
    <p:extLst>
      <p:ext uri="{BB962C8B-B14F-4D97-AF65-F5344CB8AC3E}">
        <p14:creationId xmlns:p14="http://schemas.microsoft.com/office/powerpoint/2010/main" val="3147065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AAE2E08-3083-4F17-BA01-41A030BE44F0}" type="datetimeFigureOut">
              <a:rPr lang="en-US" smtClean="0"/>
              <a:t>11-Oct-22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845D7D-ECCB-4434-BC7C-840E5BDAD3DD}" type="slidenum">
              <a:rPr lang="en-US" smtClean="0"/>
              <a:t>‹#›</a:t>
            </a:fld>
            <a:endParaRPr lang="en-US"/>
          </a:p>
        </p:txBody>
      </p:sp>
    </p:spTree>
    <p:extLst>
      <p:ext uri="{BB962C8B-B14F-4D97-AF65-F5344CB8AC3E}">
        <p14:creationId xmlns:p14="http://schemas.microsoft.com/office/powerpoint/2010/main" val="5370658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EAAE2E08-3083-4F17-BA01-41A030BE44F0}" type="datetimeFigureOut">
              <a:rPr lang="en-US" smtClean="0"/>
              <a:t>11-Oct-22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845D7D-ECCB-4434-BC7C-840E5BDAD3DD}" type="slidenum">
              <a:rPr lang="en-US" smtClean="0"/>
              <a:t>‹#›</a:t>
            </a:fld>
            <a:endParaRPr lang="en-US"/>
          </a:p>
        </p:txBody>
      </p:sp>
    </p:spTree>
    <p:extLst>
      <p:ext uri="{BB962C8B-B14F-4D97-AF65-F5344CB8AC3E}">
        <p14:creationId xmlns:p14="http://schemas.microsoft.com/office/powerpoint/2010/main" val="7745038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AAE2E08-3083-4F17-BA01-41A030BE44F0}" type="datetimeFigureOut">
              <a:rPr lang="en-US" smtClean="0"/>
              <a:t>11-Oct-22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845D7D-ECCB-4434-BC7C-840E5BDAD3DD}" type="slidenum">
              <a:rPr lang="en-US" smtClean="0"/>
              <a:t>‹#›</a:t>
            </a:fld>
            <a:endParaRPr lang="en-US"/>
          </a:p>
        </p:txBody>
      </p:sp>
    </p:spTree>
    <p:extLst>
      <p:ext uri="{BB962C8B-B14F-4D97-AF65-F5344CB8AC3E}">
        <p14:creationId xmlns:p14="http://schemas.microsoft.com/office/powerpoint/2010/main" val="19040759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AAE2E08-3083-4F17-BA01-41A030BE44F0}" type="datetimeFigureOut">
              <a:rPr lang="en-US" smtClean="0"/>
              <a:t>11-Oct-22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845D7D-ECCB-4434-BC7C-840E5BDAD3DD}"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7145271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AAE2E08-3083-4F17-BA01-41A030BE44F0}" type="datetimeFigureOut">
              <a:rPr lang="en-US" smtClean="0"/>
              <a:t>11-Oct-22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845D7D-ECCB-4434-BC7C-840E5BDAD3DD}" type="slidenum">
              <a:rPr lang="en-US" smtClean="0"/>
              <a:t>‹#›</a:t>
            </a:fld>
            <a:endParaRPr lang="en-US"/>
          </a:p>
        </p:txBody>
      </p:sp>
    </p:spTree>
    <p:extLst>
      <p:ext uri="{BB962C8B-B14F-4D97-AF65-F5344CB8AC3E}">
        <p14:creationId xmlns:p14="http://schemas.microsoft.com/office/powerpoint/2010/main" val="21028900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AAE2E08-3083-4F17-BA01-41A030BE44F0}" type="datetimeFigureOut">
              <a:rPr lang="en-US" smtClean="0"/>
              <a:t>11-Oct-22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845D7D-ECCB-4434-BC7C-840E5BDAD3DD}"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4545679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AAE2E08-3083-4F17-BA01-41A030BE44F0}" type="datetimeFigureOut">
              <a:rPr lang="en-US" smtClean="0"/>
              <a:t>11-Oct-22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845D7D-ECCB-4434-BC7C-840E5BDAD3DD}" type="slidenum">
              <a:rPr lang="en-US" smtClean="0"/>
              <a:t>‹#›</a:t>
            </a:fld>
            <a:endParaRPr lang="en-US"/>
          </a:p>
        </p:txBody>
      </p:sp>
    </p:spTree>
    <p:extLst>
      <p:ext uri="{BB962C8B-B14F-4D97-AF65-F5344CB8AC3E}">
        <p14:creationId xmlns:p14="http://schemas.microsoft.com/office/powerpoint/2010/main" val="8497117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AAE2E08-3083-4F17-BA01-41A030BE44F0}" type="datetimeFigureOut">
              <a:rPr lang="en-US" smtClean="0"/>
              <a:t>11-Oct-22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845D7D-ECCB-4434-BC7C-840E5BDAD3DD}" type="slidenum">
              <a:rPr lang="en-US" smtClean="0"/>
              <a:t>‹#›</a:t>
            </a:fld>
            <a:endParaRPr lang="en-US"/>
          </a:p>
        </p:txBody>
      </p:sp>
    </p:spTree>
    <p:extLst>
      <p:ext uri="{BB962C8B-B14F-4D97-AF65-F5344CB8AC3E}">
        <p14:creationId xmlns:p14="http://schemas.microsoft.com/office/powerpoint/2010/main" val="31225063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AAE2E08-3083-4F17-BA01-41A030BE44F0}" type="datetimeFigureOut">
              <a:rPr lang="en-US" smtClean="0"/>
              <a:t>11-Oct-22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845D7D-ECCB-4434-BC7C-840E5BDAD3DD}" type="slidenum">
              <a:rPr lang="en-US" smtClean="0"/>
              <a:t>‹#›</a:t>
            </a:fld>
            <a:endParaRPr lang="en-US"/>
          </a:p>
        </p:txBody>
      </p:sp>
    </p:spTree>
    <p:extLst>
      <p:ext uri="{BB962C8B-B14F-4D97-AF65-F5344CB8AC3E}">
        <p14:creationId xmlns:p14="http://schemas.microsoft.com/office/powerpoint/2010/main" val="24530299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AAE2E08-3083-4F17-BA01-41A030BE44F0}" type="datetimeFigureOut">
              <a:rPr lang="en-US" smtClean="0"/>
              <a:t>11-Oct-22</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3845D7D-ECCB-4434-BC7C-840E5BDAD3DD}" type="slidenum">
              <a:rPr lang="en-US" smtClean="0"/>
              <a:t>‹#›</a:t>
            </a:fld>
            <a:endParaRPr lang="en-US"/>
          </a:p>
        </p:txBody>
      </p:sp>
    </p:spTree>
    <p:extLst>
      <p:ext uri="{BB962C8B-B14F-4D97-AF65-F5344CB8AC3E}">
        <p14:creationId xmlns:p14="http://schemas.microsoft.com/office/powerpoint/2010/main" val="983494331"/>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318052"/>
            <a:ext cx="9011478" cy="6632585"/>
          </a:xfrm>
          <a:prstGeom prst="rect">
            <a:avLst/>
          </a:prstGeom>
          <a:noFill/>
        </p:spPr>
        <p:txBody>
          <a:bodyPr wrap="square" rtlCol="0">
            <a:spAutoFit/>
          </a:bodyPr>
          <a:lstStyle/>
          <a:p>
            <a:r>
              <a:rPr lang="en-US" sz="2700" b="1" u="sng" dirty="0" smtClean="0">
                <a:latin typeface="Lucida Fax" panose="02060602050505020204" pitchFamily="18" charset="0"/>
              </a:rPr>
              <a:t>SINGLE SHOT MULTIBOX DETECTOR</a:t>
            </a:r>
            <a:r>
              <a:rPr lang="en-US" sz="2700" dirty="0" smtClean="0">
                <a:latin typeface="Lucida Fax" panose="02060602050505020204" pitchFamily="18" charset="0"/>
              </a:rPr>
              <a:t>:</a:t>
            </a:r>
          </a:p>
          <a:p>
            <a:pPr fontAlgn="base"/>
            <a:r>
              <a:rPr lang="en-US" sz="2000" dirty="0" smtClean="0">
                <a:latin typeface="Lucida Fax" panose="02060602050505020204" pitchFamily="18" charset="0"/>
              </a:rPr>
              <a:t>The </a:t>
            </a:r>
            <a:r>
              <a:rPr lang="en-US" sz="2000" dirty="0">
                <a:latin typeface="Lucida Fax" panose="02060602050505020204" pitchFamily="18" charset="0"/>
              </a:rPr>
              <a:t>SSD model detects objects in a single pass, which means it saves a lot of time. But at the same time, the SSD model also seems to have amazing accuracy in its detection.</a:t>
            </a:r>
          </a:p>
          <a:p>
            <a:pPr fontAlgn="base"/>
            <a:r>
              <a:rPr lang="en-US" sz="2000" dirty="0">
                <a:latin typeface="Lucida Fax" panose="02060602050505020204" pitchFamily="18" charset="0"/>
              </a:rPr>
              <a:t>In order to achieve high detection accuracy, the SSD model produces predictions at different scales from the feature maps of different scales and explicitly separates predictions by aspect ratio</a:t>
            </a:r>
            <a:r>
              <a:rPr lang="en-US" sz="2000" dirty="0" smtClean="0">
                <a:latin typeface="Lucida Fax" panose="02060602050505020204" pitchFamily="18" charset="0"/>
              </a:rPr>
              <a:t>.</a:t>
            </a:r>
          </a:p>
          <a:p>
            <a:pPr fontAlgn="base"/>
            <a:endParaRPr lang="en-US" sz="2000" dirty="0" smtClean="0">
              <a:latin typeface="Lucida Fax" panose="02060602050505020204" pitchFamily="18" charset="0"/>
            </a:endParaRPr>
          </a:p>
          <a:p>
            <a:pPr fontAlgn="base"/>
            <a:r>
              <a:rPr lang="en-US" sz="2000" dirty="0" smtClean="0">
                <a:latin typeface="Lucida Fax" panose="02060602050505020204" pitchFamily="18" charset="0"/>
              </a:rPr>
              <a:t>-&gt;The </a:t>
            </a:r>
            <a:r>
              <a:rPr lang="en-US" sz="2000" dirty="0">
                <a:latin typeface="Lucida Fax" panose="02060602050505020204" pitchFamily="18" charset="0"/>
              </a:rPr>
              <a:t>SSD model is made up of 2 parts namely</a:t>
            </a:r>
          </a:p>
          <a:p>
            <a:pPr fontAlgn="base"/>
            <a:r>
              <a:rPr lang="en-US" sz="2000" dirty="0">
                <a:latin typeface="Lucida Fax" panose="02060602050505020204" pitchFamily="18" charset="0"/>
              </a:rPr>
              <a:t>The </a:t>
            </a:r>
            <a:r>
              <a:rPr lang="en-US" sz="2000" i="1" dirty="0">
                <a:latin typeface="Lucida Fax" panose="02060602050505020204" pitchFamily="18" charset="0"/>
              </a:rPr>
              <a:t>backbone</a:t>
            </a:r>
            <a:r>
              <a:rPr lang="en-US" sz="2000" dirty="0">
                <a:latin typeface="Lucida Fax" panose="02060602050505020204" pitchFamily="18" charset="0"/>
              </a:rPr>
              <a:t> </a:t>
            </a:r>
            <a:r>
              <a:rPr lang="en-US" sz="2000" i="1" dirty="0">
                <a:latin typeface="Lucida Fax" panose="02060602050505020204" pitchFamily="18" charset="0"/>
              </a:rPr>
              <a:t>model</a:t>
            </a:r>
            <a:endParaRPr lang="en-US" sz="2000" dirty="0">
              <a:latin typeface="Lucida Fax" panose="02060602050505020204" pitchFamily="18" charset="0"/>
            </a:endParaRPr>
          </a:p>
          <a:p>
            <a:pPr fontAlgn="base"/>
            <a:r>
              <a:rPr lang="en-US" sz="2000" dirty="0">
                <a:latin typeface="Lucida Fax" panose="02060602050505020204" pitchFamily="18" charset="0"/>
              </a:rPr>
              <a:t>The </a:t>
            </a:r>
            <a:r>
              <a:rPr lang="en-US" sz="2000" i="1" dirty="0">
                <a:latin typeface="Lucida Fax" panose="02060602050505020204" pitchFamily="18" charset="0"/>
              </a:rPr>
              <a:t>SSD head</a:t>
            </a:r>
            <a:r>
              <a:rPr lang="en-US" sz="2000" i="1" dirty="0" smtClean="0">
                <a:latin typeface="Lucida Fax" panose="02060602050505020204" pitchFamily="18" charset="0"/>
              </a:rPr>
              <a:t>.</a:t>
            </a:r>
          </a:p>
          <a:p>
            <a:pPr fontAlgn="base"/>
            <a:endParaRPr lang="en-US" sz="2000" dirty="0">
              <a:latin typeface="Lucida Fax" panose="02060602050505020204" pitchFamily="18" charset="0"/>
            </a:endParaRPr>
          </a:p>
          <a:p>
            <a:pPr fontAlgn="base"/>
            <a:r>
              <a:rPr lang="en-US" sz="2000" dirty="0">
                <a:latin typeface="Lucida Fax" panose="02060602050505020204" pitchFamily="18" charset="0"/>
              </a:rPr>
              <a:t>The </a:t>
            </a:r>
            <a:r>
              <a:rPr lang="en-US" sz="2000" b="1" dirty="0">
                <a:latin typeface="Lucida Fax" panose="02060602050505020204" pitchFamily="18" charset="0"/>
              </a:rPr>
              <a:t>Backbone model</a:t>
            </a:r>
            <a:r>
              <a:rPr lang="en-US" sz="2000" dirty="0">
                <a:latin typeface="Lucida Fax" panose="02060602050505020204" pitchFamily="18" charset="0"/>
              </a:rPr>
              <a:t> is a typical pre-trained image classification network that works as the feature map extractor. Here, the image final image classification layers of the model are removed to give us only the extracted feature maps.</a:t>
            </a:r>
          </a:p>
          <a:p>
            <a:pPr fontAlgn="base"/>
            <a:r>
              <a:rPr lang="en-US" sz="2000" b="1" dirty="0">
                <a:latin typeface="Lucida Fax" panose="02060602050505020204" pitchFamily="18" charset="0"/>
              </a:rPr>
              <a:t>SSD head</a:t>
            </a:r>
            <a:r>
              <a:rPr lang="en-US" sz="2000" dirty="0">
                <a:latin typeface="Lucida Fax" panose="02060602050505020204" pitchFamily="18" charset="0"/>
              </a:rPr>
              <a:t> is made up of a couple of convolutional layers stacked together and it is added to the top of the backbone model. This gives us the output as the bounding boxes over the objects. These convolutional layers detect the various objects in the image.</a:t>
            </a:r>
          </a:p>
          <a:p>
            <a:pPr fontAlgn="base"/>
            <a:endParaRPr lang="en-US" dirty="0"/>
          </a:p>
        </p:txBody>
      </p:sp>
    </p:spTree>
    <p:extLst>
      <p:ext uri="{BB962C8B-B14F-4D97-AF65-F5344CB8AC3E}">
        <p14:creationId xmlns:p14="http://schemas.microsoft.com/office/powerpoint/2010/main" val="11874071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77078" y="225287"/>
            <a:ext cx="11410122" cy="1431161"/>
          </a:xfrm>
          <a:prstGeom prst="rect">
            <a:avLst/>
          </a:prstGeom>
          <a:noFill/>
        </p:spPr>
        <p:txBody>
          <a:bodyPr wrap="square" rtlCol="0">
            <a:spAutoFit/>
          </a:bodyPr>
          <a:lstStyle/>
          <a:p>
            <a:r>
              <a:rPr lang="en-US" sz="2700" b="1" u="sng" dirty="0" smtClean="0">
                <a:latin typeface="Lucida Fax" panose="02060602050505020204" pitchFamily="18" charset="0"/>
              </a:rPr>
              <a:t>SSD ARCHITECTURE:</a:t>
            </a:r>
          </a:p>
          <a:p>
            <a:r>
              <a:rPr lang="en-US" sz="2000" dirty="0" smtClean="0">
                <a:latin typeface="Lucida Fax" panose="02060602050505020204" pitchFamily="18" charset="0"/>
              </a:rPr>
              <a:t>The </a:t>
            </a:r>
            <a:r>
              <a:rPr lang="en-US" sz="2000" dirty="0">
                <a:latin typeface="Lucida Fax" panose="02060602050505020204" pitchFamily="18" charset="0"/>
              </a:rPr>
              <a:t>SSD object detection composes of 2 parts:</a:t>
            </a:r>
          </a:p>
          <a:p>
            <a:r>
              <a:rPr lang="en-US" sz="2000" dirty="0">
                <a:latin typeface="Lucida Fax" panose="02060602050505020204" pitchFamily="18" charset="0"/>
              </a:rPr>
              <a:t>Extract feature maps, and</a:t>
            </a:r>
          </a:p>
          <a:p>
            <a:r>
              <a:rPr lang="en-US" sz="2000" dirty="0">
                <a:latin typeface="Lucida Fax" panose="02060602050505020204" pitchFamily="18" charset="0"/>
              </a:rPr>
              <a:t>Apply convolution filters to detect objects</a:t>
            </a:r>
            <a:r>
              <a:rPr lang="en-US" sz="2000" dirty="0" smtClean="0">
                <a:latin typeface="Lucida Fax" panose="02060602050505020204" pitchFamily="18" charset="0"/>
              </a:rPr>
              <a:t>.</a:t>
            </a:r>
            <a:endParaRPr lang="en-US" sz="2000" dirty="0">
              <a:latin typeface="Lucida Fax" panose="02060602050505020204" pitchFamily="18" charset="0"/>
            </a:endParaRPr>
          </a:p>
        </p:txBody>
      </p:sp>
      <p:pic>
        <p:nvPicPr>
          <p:cNvPr id="1026" name="Picture 2" descr="https://miro.medium.com/max/700/1*aex5im2aYcsk4RVKUD4zeg.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5061" y="1656448"/>
            <a:ext cx="6301408" cy="240941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477078" y="4373641"/>
            <a:ext cx="9859618" cy="2246769"/>
          </a:xfrm>
          <a:prstGeom prst="rect">
            <a:avLst/>
          </a:prstGeom>
          <a:noFill/>
        </p:spPr>
        <p:txBody>
          <a:bodyPr wrap="square" rtlCol="0">
            <a:spAutoFit/>
          </a:bodyPr>
          <a:lstStyle/>
          <a:p>
            <a:r>
              <a:rPr lang="en-US" sz="2000" dirty="0">
                <a:latin typeface="Lucida Fax" panose="02060602050505020204" pitchFamily="18" charset="0"/>
              </a:rPr>
              <a:t>The SSD model works as follows, each input image is divided into grids of various sizes and at each grid, the detection is performed for different classes and different aspect ratios. And a score is assigned to each of these grids that says how well an object matches in that particular </a:t>
            </a:r>
            <a:r>
              <a:rPr lang="en-US" sz="2000" dirty="0" smtClean="0">
                <a:latin typeface="Lucida Fax" panose="02060602050505020204" pitchFamily="18" charset="0"/>
              </a:rPr>
              <a:t>grid. And non maximum suppression is applied to get the final detection from the set of overlapping detections. This </a:t>
            </a:r>
            <a:r>
              <a:rPr lang="en-US" sz="2000" dirty="0">
                <a:latin typeface="Lucida Fax" panose="02060602050505020204" pitchFamily="18" charset="0"/>
              </a:rPr>
              <a:t>is the basic idea behind the SSD model.</a:t>
            </a:r>
          </a:p>
        </p:txBody>
      </p:sp>
    </p:spTree>
    <p:extLst>
      <p:ext uri="{BB962C8B-B14F-4D97-AF65-F5344CB8AC3E}">
        <p14:creationId xmlns:p14="http://schemas.microsoft.com/office/powerpoint/2010/main" val="7636619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 y="3265238"/>
            <a:ext cx="12192000" cy="3592761"/>
          </a:xfrm>
          <a:prstGeom prst="rect">
            <a:avLst/>
          </a:prstGeom>
        </p:spPr>
      </p:pic>
      <p:pic>
        <p:nvPicPr>
          <p:cNvPr id="3074" name="Picture 2" descr="Untitled-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1" cy="3265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12230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7809" y="291548"/>
            <a:ext cx="11304104" cy="2323713"/>
          </a:xfrm>
          <a:prstGeom prst="rect">
            <a:avLst/>
          </a:prstGeom>
          <a:noFill/>
        </p:spPr>
        <p:txBody>
          <a:bodyPr wrap="square" rtlCol="0">
            <a:spAutoFit/>
          </a:bodyPr>
          <a:lstStyle/>
          <a:p>
            <a:pPr fontAlgn="base"/>
            <a:r>
              <a:rPr lang="en-US" sz="2700" b="1" u="sng" dirty="0" smtClean="0">
                <a:latin typeface="Lucida Fax" panose="02060602050505020204" pitchFamily="18" charset="0"/>
              </a:rPr>
              <a:t>MobileNet:</a:t>
            </a:r>
            <a:endParaRPr lang="en-US" sz="2700" b="1" u="sng" dirty="0">
              <a:latin typeface="Lucida Fax" panose="02060602050505020204" pitchFamily="18" charset="0"/>
            </a:endParaRPr>
          </a:p>
          <a:p>
            <a:pPr fontAlgn="base"/>
            <a:r>
              <a:rPr lang="en-US" sz="2000" dirty="0">
                <a:latin typeface="Lucida Fax" panose="02060602050505020204" pitchFamily="18" charset="0"/>
              </a:rPr>
              <a:t>MobileNet is an </a:t>
            </a:r>
            <a:r>
              <a:rPr lang="en-US" sz="2000" dirty="0" smtClean="0">
                <a:latin typeface="Lucida Fax" panose="02060602050505020204" pitchFamily="18" charset="0"/>
              </a:rPr>
              <a:t>architecture </a:t>
            </a:r>
            <a:r>
              <a:rPr lang="en-US" sz="2000" dirty="0">
                <a:latin typeface="Lucida Fax" panose="02060602050505020204" pitchFamily="18" charset="0"/>
              </a:rPr>
              <a:t>model of the convolution neural network (CNN) that explicitly focuses on Image Classification for mobile applications. Rather than using the standard convolution layers, it uses </a:t>
            </a:r>
            <a:r>
              <a:rPr lang="en-US" sz="2000" b="1" dirty="0">
                <a:latin typeface="Lucida Fax" panose="02060602050505020204" pitchFamily="18" charset="0"/>
              </a:rPr>
              <a:t>Depth wise separable convolution layers</a:t>
            </a:r>
            <a:r>
              <a:rPr lang="en-US" sz="2000" dirty="0">
                <a:latin typeface="Lucida Fax" panose="02060602050505020204" pitchFamily="18" charset="0"/>
              </a:rPr>
              <a:t>. What makes this model stand out is that its </a:t>
            </a:r>
            <a:r>
              <a:rPr lang="en-US" sz="2000" dirty="0" smtClean="0">
                <a:latin typeface="Lucida Fax" panose="02060602050505020204" pitchFamily="18" charset="0"/>
              </a:rPr>
              <a:t>architecture </a:t>
            </a:r>
            <a:r>
              <a:rPr lang="en-US" sz="2000" dirty="0">
                <a:latin typeface="Lucida Fax" panose="02060602050505020204" pitchFamily="18" charset="0"/>
              </a:rPr>
              <a:t>lessens the computational cost and very low computational power is needed to run or apply transfer learning.</a:t>
            </a:r>
          </a:p>
          <a:p>
            <a:endParaRPr lang="en-US" dirty="0">
              <a:latin typeface="Lucida Fax" panose="02060602050505020204" pitchFamily="18" charset="0"/>
            </a:endParaRPr>
          </a:p>
        </p:txBody>
      </p:sp>
      <p:pic>
        <p:nvPicPr>
          <p:cNvPr id="4098" name="Picture 2" descr="MobileNet-V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0154" y="2615261"/>
            <a:ext cx="7510497" cy="211406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596347" y="5004612"/>
            <a:ext cx="10827027" cy="1323439"/>
          </a:xfrm>
          <a:prstGeom prst="rect">
            <a:avLst/>
          </a:prstGeom>
          <a:noFill/>
        </p:spPr>
        <p:txBody>
          <a:bodyPr wrap="square" rtlCol="0">
            <a:spAutoFit/>
          </a:bodyPr>
          <a:lstStyle/>
          <a:p>
            <a:r>
              <a:rPr lang="en-US" sz="2000" dirty="0">
                <a:latin typeface="Lucida Fax" panose="02060602050505020204" pitchFamily="18" charset="0"/>
              </a:rPr>
              <a:t>The above image depicts the depth wise separable convolution. In </a:t>
            </a:r>
            <a:r>
              <a:rPr lang="en-US" sz="2000" dirty="0" err="1" smtClean="0">
                <a:latin typeface="Lucida Fax" panose="02060602050505020204" pitchFamily="18" charset="0"/>
              </a:rPr>
              <a:t>mobileNet</a:t>
            </a:r>
            <a:r>
              <a:rPr lang="en-US" sz="2000" dirty="0" smtClean="0">
                <a:latin typeface="Lucida Fax" panose="02060602050505020204" pitchFamily="18" charset="0"/>
              </a:rPr>
              <a:t> </a:t>
            </a:r>
            <a:r>
              <a:rPr lang="en-US" sz="2000" dirty="0">
                <a:latin typeface="Lucida Fax" panose="02060602050505020204" pitchFamily="18" charset="0"/>
              </a:rPr>
              <a:t>V1, the convolution box in the given image that consists of </a:t>
            </a:r>
            <a:r>
              <a:rPr lang="en-US" sz="2000" dirty="0" smtClean="0">
                <a:latin typeface="Lucida Fax" panose="02060602050505020204" pitchFamily="18" charset="0"/>
              </a:rPr>
              <a:t>depth wise </a:t>
            </a:r>
            <a:r>
              <a:rPr lang="en-US" sz="2000" dirty="0">
                <a:latin typeface="Lucida Fax" panose="02060602050505020204" pitchFamily="18" charset="0"/>
              </a:rPr>
              <a:t>and point wise convolutions is </a:t>
            </a:r>
            <a:r>
              <a:rPr lang="en-US" sz="2000" b="1" dirty="0">
                <a:latin typeface="Lucida Fax" panose="02060602050505020204" pitchFamily="18" charset="0"/>
              </a:rPr>
              <a:t>repeated 13 times</a:t>
            </a:r>
            <a:r>
              <a:rPr lang="en-US" sz="2000" dirty="0">
                <a:latin typeface="Lucida Fax" panose="02060602050505020204" pitchFamily="18" charset="0"/>
              </a:rPr>
              <a:t> after the initial convolution layer .The table below gives its detailed architecture.</a:t>
            </a:r>
          </a:p>
        </p:txBody>
      </p:sp>
    </p:spTree>
    <p:extLst>
      <p:ext uri="{BB962C8B-B14F-4D97-AF65-F5344CB8AC3E}">
        <p14:creationId xmlns:p14="http://schemas.microsoft.com/office/powerpoint/2010/main" val="3465931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9843" y="331304"/>
            <a:ext cx="10986053" cy="2970044"/>
          </a:xfrm>
          <a:prstGeom prst="rect">
            <a:avLst/>
          </a:prstGeom>
          <a:noFill/>
        </p:spPr>
        <p:txBody>
          <a:bodyPr wrap="square" rtlCol="0">
            <a:spAutoFit/>
          </a:bodyPr>
          <a:lstStyle/>
          <a:p>
            <a:r>
              <a:rPr lang="en-US" sz="2700" b="1" u="sng" dirty="0">
                <a:latin typeface="Lucida Fax" panose="02060602050505020204" pitchFamily="18" charset="0"/>
              </a:rPr>
              <a:t>SSD MobileNet V1 </a:t>
            </a:r>
            <a:r>
              <a:rPr lang="en-US" sz="2700" b="1" u="sng" dirty="0" smtClean="0">
                <a:latin typeface="Lucida Fax" panose="02060602050505020204" pitchFamily="18" charset="0"/>
              </a:rPr>
              <a:t>architecture:</a:t>
            </a:r>
          </a:p>
          <a:p>
            <a:pPr fontAlgn="base"/>
            <a:r>
              <a:rPr lang="en-US" sz="2000" dirty="0">
                <a:latin typeface="Lucida Fax" panose="02060602050505020204" pitchFamily="18" charset="0"/>
              </a:rPr>
              <a:t>SSD is independent of its base network, MobileNet was used as the base network of SSD to tackle this problem.</a:t>
            </a:r>
          </a:p>
          <a:p>
            <a:pPr fontAlgn="base"/>
            <a:r>
              <a:rPr lang="en-US" sz="2000" dirty="0">
                <a:latin typeface="Lucida Fax" panose="02060602050505020204" pitchFamily="18" charset="0"/>
              </a:rPr>
              <a:t>This is known as </a:t>
            </a:r>
            <a:r>
              <a:rPr lang="en-US" sz="2000" b="1" dirty="0">
                <a:latin typeface="Lucida Fax" panose="02060602050505020204" pitchFamily="18" charset="0"/>
              </a:rPr>
              <a:t>MobileNet SSD</a:t>
            </a:r>
            <a:r>
              <a:rPr lang="en-US" sz="2000" dirty="0">
                <a:latin typeface="Lucida Fax" panose="02060602050505020204" pitchFamily="18" charset="0"/>
              </a:rPr>
              <a:t>.</a:t>
            </a:r>
          </a:p>
          <a:p>
            <a:pPr fontAlgn="base"/>
            <a:r>
              <a:rPr lang="en-US" sz="2000" dirty="0">
                <a:latin typeface="Lucida Fax" panose="02060602050505020204" pitchFamily="18" charset="0"/>
              </a:rPr>
              <a:t>When MobileNet V1 is used along with SSD, the last few layers such as the FC, Maxpool and Softmax are omitted. So, the outputs from the final convolution layer in the MobileNet is used, along with </a:t>
            </a:r>
            <a:r>
              <a:rPr lang="en-US" sz="2000" dirty="0" smtClean="0">
                <a:latin typeface="Lucida Fax" panose="02060602050505020204" pitchFamily="18" charset="0"/>
              </a:rPr>
              <a:t>convoluting </a:t>
            </a:r>
            <a:r>
              <a:rPr lang="en-US" sz="2000" dirty="0">
                <a:latin typeface="Lucida Fax" panose="02060602050505020204" pitchFamily="18" charset="0"/>
              </a:rPr>
              <a:t>it a few more times to obtain a stack of feature </a:t>
            </a:r>
            <a:r>
              <a:rPr lang="en-US" sz="2000" dirty="0" smtClean="0">
                <a:latin typeface="Lucida Fax" panose="02060602050505020204" pitchFamily="18" charset="0"/>
              </a:rPr>
              <a:t>maps. These </a:t>
            </a:r>
            <a:r>
              <a:rPr lang="en-US" sz="2000" dirty="0">
                <a:latin typeface="Lucida Fax" panose="02060602050505020204" pitchFamily="18" charset="0"/>
              </a:rPr>
              <a:t>are then used as inputs for its detection heads. Its architecture can be modified as per required</a:t>
            </a:r>
            <a:r>
              <a:rPr lang="en-US" sz="2000" dirty="0" smtClean="0">
                <a:latin typeface="Lucida Fax" panose="02060602050505020204" pitchFamily="18" charset="0"/>
              </a:rPr>
              <a:t>.</a:t>
            </a:r>
            <a:endParaRPr lang="en-US" sz="2000" dirty="0">
              <a:latin typeface="Lucida Fax" panose="02060602050505020204" pitchFamily="18" charset="0"/>
            </a:endParaRPr>
          </a:p>
        </p:txBody>
      </p:sp>
      <p:pic>
        <p:nvPicPr>
          <p:cNvPr id="5122" name="Picture 2" descr="Mobilenet-v1-based-modified-SSD-network-archite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1966" y="3488289"/>
            <a:ext cx="9138593" cy="3000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884932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23</TotalTime>
  <Words>291</Words>
  <Application>Microsoft Office PowerPoint</Application>
  <PresentationFormat>Widescreen</PresentationFormat>
  <Paragraphs>22</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Lucida Fax</vt:lpstr>
      <vt:lpstr>Trebuchet MS</vt:lpstr>
      <vt:lpstr>Wingdings 3</vt:lpstr>
      <vt:lpstr>Facet</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HP</cp:lastModifiedBy>
  <cp:revision>3</cp:revision>
  <dcterms:created xsi:type="dcterms:W3CDTF">2022-10-10T20:48:48Z</dcterms:created>
  <dcterms:modified xsi:type="dcterms:W3CDTF">2022-10-10T21:11:52Z</dcterms:modified>
</cp:coreProperties>
</file>